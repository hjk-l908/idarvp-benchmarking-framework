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9456"/>
            <a:ext cx="11384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iDARVP study design and evaluation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02336" y="64008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Homology-aware benchmarking and analysis framework with a two-stage case-study implementation</a:t>
            </a:r>
            <a:endParaRPr lang="en-US" sz="1430" dirty="0"/>
          </a:p>
        </p:txBody>
      </p:sp>
      <p:sp>
        <p:nvSpPr>
          <p:cNvPr id="4" name="Shape 2"/>
          <p:cNvSpPr/>
          <p:nvPr/>
        </p:nvSpPr>
        <p:spPr>
          <a:xfrm>
            <a:off x="420624" y="1005840"/>
            <a:ext cx="3602736" cy="384048"/>
          </a:xfrm>
          <a:prstGeom prst="roundRect">
            <a:avLst/>
          </a:prstGeom>
          <a:solidFill>
            <a:srgbClr val="E8EEF5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024128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curation and split design</a:t>
            </a:r>
            <a:endParaRPr lang="en-US" sz="1720" dirty="0"/>
          </a:p>
        </p:txBody>
      </p:sp>
      <p:sp>
        <p:nvSpPr>
          <p:cNvPr id="6" name="Shape 4"/>
          <p:cNvSpPr/>
          <p:nvPr/>
        </p:nvSpPr>
        <p:spPr>
          <a:xfrm>
            <a:off x="4297680" y="1005840"/>
            <a:ext cx="3602736" cy="384048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70832" y="1024128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Stage 1 ARVP identification</a:t>
            </a:r>
            <a:endParaRPr lang="en-US" sz="1720" dirty="0"/>
          </a:p>
        </p:txBody>
      </p:sp>
      <p:sp>
        <p:nvSpPr>
          <p:cNvPr id="8" name="Shape 6"/>
          <p:cNvSpPr/>
          <p:nvPr/>
        </p:nvSpPr>
        <p:spPr>
          <a:xfrm>
            <a:off x="8174736" y="1005840"/>
            <a:ext cx="3602736" cy="384048"/>
          </a:xfrm>
          <a:prstGeom prst="roundRect">
            <a:avLst/>
          </a:prstGeom>
          <a:solidFill>
            <a:srgbClr val="EAF9EF"/>
          </a:solidFill>
          <a:ln w="1778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47888" y="1024128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Stage 2 mechanism prediction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420624" y="1481328"/>
            <a:ext cx="3602736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7276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evidence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48640" y="184708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ARVP-positive evidence from curated peptide resources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Negative-A: APD6-pool background peptides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Negative-B: non-Retroviridae antiviral stress set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420624" y="2688336"/>
            <a:ext cx="36027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7977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Homology-aware partitioning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3346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 1: CD-HIT 80% cluster-level assignment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Negative-B-containing clusters fixed in test_hard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 2: stricter hom40 cluster-aware split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420624" y="3950208"/>
            <a:ext cx="360273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4164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and uncertainty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48640" y="4315968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Preserved split files and provenance records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Validation-only threshold selection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Cluster bootstrap + repeated-assignment sensitivity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4297680" y="1481328"/>
            <a:ext cx="3602736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25696" y="157276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validation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425696" y="184708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Balanced ARVP positives + Negative-A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Separate train and validation sets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Controlled kmer13 and ESM2-t6 baselines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4297680" y="2688336"/>
            <a:ext cx="36027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25696" y="277977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vs hard evaluation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425696" y="3054096"/>
            <a:ext cx="3346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test_easy: matched-background balanced holdout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test_hard: positives + annotation-based Negative-B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AUPRC, AUROC, MCC, calibration diagnostics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4297680" y="3950208"/>
            <a:ext cx="360273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5696" y="404164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Ranking-oriented analysis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425696" y="4315968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Top-K at K = 50, 100, 200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Precision@K, Recall@K, Enrichment@K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Directional interpretation when intervals overlap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8174736" y="1481328"/>
            <a:ext cx="3602736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157276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input and labels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302752" y="184708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ARVP sequences under hom40 control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Six biological activity categories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MAP*: analytical multi-activity grouping</a:t>
            </a:r>
            <a:endParaRPr lang="en-US" sz="1340" dirty="0"/>
          </a:p>
        </p:txBody>
      </p:sp>
      <p:sp>
        <p:nvSpPr>
          <p:cNvPr id="31" name="Shape 29"/>
          <p:cNvSpPr/>
          <p:nvPr/>
        </p:nvSpPr>
        <p:spPr>
          <a:xfrm>
            <a:off x="8174736" y="2688336"/>
            <a:ext cx="36027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277977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302752" y="3054096"/>
            <a:ext cx="3346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kmer13 baseline and ESM2-t6 embedding baseline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kmer13 + ESM2 fusion variants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One-vs-rest logistic regression</a:t>
            </a:r>
            <a:endParaRPr lang="en-US" sz="1340" dirty="0"/>
          </a:p>
        </p:txBody>
      </p:sp>
      <p:sp>
        <p:nvSpPr>
          <p:cNvPr id="34" name="Shape 32"/>
          <p:cNvSpPr/>
          <p:nvPr/>
        </p:nvSpPr>
        <p:spPr>
          <a:xfrm>
            <a:off x="8174736" y="3950208"/>
            <a:ext cx="360273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404164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8302752" y="4315968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Per-label AUPRC and threshold-dependent metrics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Validation-only per-label threshold calibration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Rare-label results interpreted conservatively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4069080" y="2816352"/>
            <a:ext cx="164592" cy="475488"/>
          </a:xfrm>
          <a:prstGeom prst="chevron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46136" y="2816352"/>
            <a:ext cx="164592" cy="475488"/>
          </a:xfrm>
          <a:prstGeom prst="chevron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321808"/>
            <a:ext cx="11274552" cy="621792"/>
          </a:xfrm>
          <a:prstGeom prst="roundRect">
            <a:avLst/>
          </a:prstGeom>
          <a:solidFill>
            <a:srgbClr val="FFF1E8">
              <a:alpha val="95000"/>
            </a:srgbClr>
          </a:solidFill>
          <a:ln w="1397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54132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exploratory branch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2706624" y="5376672"/>
            <a:ext cx="8750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AI4AVP / AVPpred historical pilot retained as descriptive context only; paired per-sequence outputs were not preserved, so no paired superiority claim is made.</a:t>
            </a:r>
            <a:endParaRPr lang="en-US" sz="1220" dirty="0"/>
          </a:p>
        </p:txBody>
      </p:sp>
      <p:sp>
        <p:nvSpPr>
          <p:cNvPr id="42" name="Shape 40"/>
          <p:cNvSpPr/>
          <p:nvPr/>
        </p:nvSpPr>
        <p:spPr>
          <a:xfrm>
            <a:off x="457200" y="6053328"/>
            <a:ext cx="3749040" cy="420624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" y="6126480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release: curated splits • scripts • thresholds • robustness outputs</a:t>
            </a:r>
            <a:endParaRPr lang="en-US" sz="1160" dirty="0"/>
          </a:p>
        </p:txBody>
      </p:sp>
      <p:sp>
        <p:nvSpPr>
          <p:cNvPr id="44" name="Shape 42"/>
          <p:cNvSpPr/>
          <p:nvPr/>
        </p:nvSpPr>
        <p:spPr>
          <a:xfrm>
            <a:off x="4443984" y="6053328"/>
            <a:ext cx="7287768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26864" y="6117336"/>
            <a:ext cx="6922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Take-home: apparent performance depends on benchmark design, homology control, and negative-set definition.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06640" y="651052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MAP is an analysis-specific multi-activity grouping, not a biological mechanism.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iDARVP study design and evaluation workflow</dc:title>
  <dc:subject>iDARVP Figure 1</dc:subject>
  <dc:creator>OpenAI</dc:creator>
  <cp:lastModifiedBy>OpenAI</cp:lastModifiedBy>
  <cp:revision>1</cp:revision>
  <dcterms:created xsi:type="dcterms:W3CDTF">2026-08-07T02:49:35Z</dcterms:created>
  <dcterms:modified xsi:type="dcterms:W3CDTF">2026-08-07T02:49:35Z</dcterms:modified>
</cp:coreProperties>
</file>